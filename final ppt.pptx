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8" r:id="rId11"/>
    <p:sldId id="271" r:id="rId12"/>
    <p:sldId id="263" r:id="rId13"/>
    <p:sldId id="264" r:id="rId14"/>
    <p:sldId id="265" r:id="rId15"/>
    <p:sldId id="266" r:id="rId16"/>
  </p:sldIdLst>
  <p:sldSz cx="12192000" cy="6858000"/>
  <p:notesSz cx="6858000" cy="9144000"/>
  <p:embeddedFontLst>
    <p:embeddedFont>
      <p:font typeface="Cambria Math" panose="02040503050406030204" pitchFamily="18" charset="0"/>
      <p:regular r:id="rId18"/>
    </p:embeddedFont>
    <p:embeddedFont>
      <p:font typeface="Montserrat" panose="00000500000000000000" pitchFamily="2" charset="0"/>
      <p:regular r:id="rId19"/>
    </p:embeddedFont>
    <p:embeddedFont>
      <p:font typeface="Play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iL/mPeBpPaVXnJqpF+mmM5w78Y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80BE6C-7485-48FC-9D8E-5863A4461E3C}">
  <a:tblStyle styleId="{9880BE6C-7485-48FC-9D8E-5863A4461E3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8829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0623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0709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9774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0040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8013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408B8552-189D-8A72-3425-AA31E91E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:notes">
            <a:extLst>
              <a:ext uri="{FF2B5EF4-FFF2-40B4-BE49-F238E27FC236}">
                <a16:creationId xmlns:a16="http://schemas.microsoft.com/office/drawing/2014/main" id="{2112AB35-BD8A-FE9C-5EFF-EDC8DA5F2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7:notes">
            <a:extLst>
              <a:ext uri="{FF2B5EF4-FFF2-40B4-BE49-F238E27FC236}">
                <a16:creationId xmlns:a16="http://schemas.microsoft.com/office/drawing/2014/main" id="{FFA5924A-711D-BB4F-AE8D-FD15D9ED5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825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073176-39DF-9112-4717-6FBEDEC7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:notes">
            <a:extLst>
              <a:ext uri="{FF2B5EF4-FFF2-40B4-BE49-F238E27FC236}">
                <a16:creationId xmlns:a16="http://schemas.microsoft.com/office/drawing/2014/main" id="{C3B8DFB1-B3AB-9160-8F1D-FEA0EB1D0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7:notes">
            <a:extLst>
              <a:ext uri="{FF2B5EF4-FFF2-40B4-BE49-F238E27FC236}">
                <a16:creationId xmlns:a16="http://schemas.microsoft.com/office/drawing/2014/main" id="{CCF4B611-AE0B-7569-8F73-818D2579BC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2836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9134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7167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7132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AA7A0B9-FBBB-13F9-3D54-B02C3D4A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>
            <a:extLst>
              <a:ext uri="{FF2B5EF4-FFF2-40B4-BE49-F238E27FC236}">
                <a16:creationId xmlns:a16="http://schemas.microsoft.com/office/drawing/2014/main" id="{A4FB4846-ACBF-EA6E-CFC7-35CBC6DC9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8:notes">
            <a:extLst>
              <a:ext uri="{FF2B5EF4-FFF2-40B4-BE49-F238E27FC236}">
                <a16:creationId xmlns:a16="http://schemas.microsoft.com/office/drawing/2014/main" id="{6B018EAF-7EA8-2A38-4C28-BFF49F6A00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1884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1279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0449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268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167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/>
        </p:nvSpPr>
        <p:spPr>
          <a:xfrm>
            <a:off x="300038" y="1680272"/>
            <a:ext cx="11728563" cy="879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Elimination Solver with Step-by-Step Output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Google Shape;77;p1"/>
          <p:cNvSpPr txBox="1">
            <a:spLocks noGrp="1"/>
          </p:cNvSpPr>
          <p:nvPr>
            <p:ph type="sldNum" idx="12"/>
          </p:nvPr>
        </p:nvSpPr>
        <p:spPr>
          <a:xfrm>
            <a:off x="6845300" y="48696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fld id="{00000000-1234-1234-1234-123412341234}" type="slidenum">
              <a:rPr lang="en-IN">
                <a:solidFill>
                  <a:schemeClr val="lt1"/>
                </a:solidFill>
              </a:rPr>
              <a:t>1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4337748" y="2478877"/>
            <a:ext cx="3516492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IN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Details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" name="Google Shape;79;p1"/>
          <p:cNvGraphicFramePr/>
          <p:nvPr>
            <p:extLst>
              <p:ext uri="{D42A27DB-BD31-4B8C-83A1-F6EECF244321}">
                <p14:modId xmlns:p14="http://schemas.microsoft.com/office/powerpoint/2010/main" val="850051626"/>
              </p:ext>
            </p:extLst>
          </p:nvPr>
        </p:nvGraphicFramePr>
        <p:xfrm>
          <a:off x="2299394" y="3065920"/>
          <a:ext cx="7593200" cy="2240750"/>
        </p:xfrm>
        <a:graphic>
          <a:graphicData uri="http://schemas.openxmlformats.org/drawingml/2006/table">
            <a:tbl>
              <a:tblPr>
                <a:noFill/>
                <a:tableStyleId>{9880BE6C-7485-48FC-9D8E-5863A4461E3C}</a:tableStyleId>
              </a:tblPr>
              <a:tblGrid>
                <a:gridCol w="93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No.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>
                    <a:solidFill>
                      <a:srgbClr val="6801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 dirty="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A3               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>
                    <a:solidFill>
                      <a:srgbClr val="6801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 No. 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SRN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KARTHIK HIRENARTI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02FE25BCS044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VIKAS BASTAWAD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02FE25BCS045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GANGAMMA NAGANUR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02FE25BCS043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SHREYA GAIKWAD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02FE25BCS046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" name="Google Shape;80;p1"/>
          <p:cNvSpPr txBox="1"/>
          <p:nvPr/>
        </p:nvSpPr>
        <p:spPr>
          <a:xfrm>
            <a:off x="0" y="0"/>
            <a:ext cx="12192000" cy="1609271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Presentation on </a:t>
            </a:r>
            <a:r>
              <a:rPr lang="en-IN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Algebra Project</a:t>
            </a:r>
            <a:endParaRPr sz="32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9" y="225315"/>
            <a:ext cx="2895445" cy="111187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/>
          <p:nvPr/>
        </p:nvSpPr>
        <p:spPr>
          <a:xfrm>
            <a:off x="432013" y="5375971"/>
            <a:ext cx="10682189" cy="178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ts val="3300"/>
              </a:lnSpc>
              <a:spcAft>
                <a:spcPts val="825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the Guidance of : </a:t>
            </a:r>
            <a:b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3200" b="0" i="0" dirty="0"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Dr. Shoba Patil &amp; prof. Veena </a:t>
            </a:r>
            <a:r>
              <a:rPr lang="en-IN" sz="3200" b="0" i="0" dirty="0" err="1">
                <a:solidFill>
                  <a:srgbClr val="333333"/>
                </a:solidFill>
                <a:effectLst/>
                <a:latin typeface="Montserrat" panose="00000500000000000000" pitchFamily="2" charset="0"/>
              </a:rPr>
              <a:t>Pattar</a:t>
            </a:r>
            <a:endParaRPr lang="en-IN" sz="4000" b="0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algn="ctr">
              <a:lnSpc>
                <a:spcPts val="3300"/>
              </a:lnSpc>
              <a:spcAft>
                <a:spcPts val="825"/>
              </a:spcAft>
              <a:buNone/>
            </a:pPr>
            <a:endParaRPr lang="en-IN" sz="3200" b="0" i="0" dirty="0">
              <a:solidFill>
                <a:srgbClr val="333333"/>
              </a:solidFill>
              <a:effectLst/>
              <a:latin typeface="Montserrat" panose="00000500000000000000" pitchFamily="2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IN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IN"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3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285135" y="1238865"/>
            <a:ext cx="10294472" cy="508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9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749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  <a:p>
            <a:pPr marL="5969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Theory</a:t>
            </a:r>
            <a:endParaRPr/>
          </a:p>
          <a:p>
            <a:pPr marL="5969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Algorithm/Methodology</a:t>
            </a:r>
            <a:endParaRPr/>
          </a:p>
          <a:p>
            <a:pPr marL="5969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 Pyt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hon Code Implementation </a:t>
            </a:r>
            <a:endParaRPr/>
          </a:p>
          <a:p>
            <a:pPr marL="5969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Libraries used</a:t>
            </a:r>
            <a:endParaRPr/>
          </a:p>
          <a:p>
            <a:pPr marL="7493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 startAt="7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Outputs</a:t>
            </a:r>
            <a:endParaRPr/>
          </a:p>
          <a:p>
            <a:pPr marL="5969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  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0" y="-9832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lang="en-IN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238250" y="3867562"/>
            <a:ext cx="11715500" cy="1975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184400" y="1497204"/>
            <a:ext cx="11769350" cy="461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Gaussian Elimination Solver with Step-by-Step Output </a:t>
            </a:r>
            <a:endParaRPr lang="en-US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and visualize each step of row reduction on user-defined systems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101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996663" y="3788878"/>
            <a:ext cx="105991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-329" y="205964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84400" y="3715140"/>
            <a:ext cx="119259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11760" y="345200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3BE3F4-D077-72A2-B08D-056EACBC2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380077"/>
              </p:ext>
            </p:extLst>
          </p:nvPr>
        </p:nvGraphicFramePr>
        <p:xfrm>
          <a:off x="2032000" y="2842377"/>
          <a:ext cx="8128000" cy="2331720"/>
        </p:xfrm>
        <a:graphic>
          <a:graphicData uri="http://schemas.openxmlformats.org/drawingml/2006/table">
            <a:tbl>
              <a:tblPr firstRow="1" bandRow="1">
                <a:tableStyleId>{9880BE6C-7485-48FC-9D8E-5863A4461E3C}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368322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69310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IN" sz="19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Maths Concept:</a:t>
                      </a:r>
                    </a:p>
                    <a:p>
                      <a:pPr marL="804863" lvl="2" indent="-457200" algn="l">
                        <a:lnSpc>
                          <a:spcPct val="115000"/>
                        </a:lnSpc>
                        <a:buSzPct val="105000"/>
                        <a:buFont typeface="+mj-lt"/>
                        <a:buAutoNum type="arabicPeriod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Gaussian Elimination</a:t>
                      </a:r>
                    </a:p>
                    <a:p>
                      <a:pPr marL="804863" lvl="2" indent="-457200" algn="l">
                        <a:lnSpc>
                          <a:spcPct val="115000"/>
                        </a:lnSpc>
                        <a:buSzPct val="105000"/>
                        <a:buFont typeface="+mj-lt"/>
                        <a:buAutoNum type="arabicPeriod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Matrices and Row Operations</a:t>
                      </a:r>
                    </a:p>
                    <a:p>
                      <a:pPr marL="804863" lvl="2" indent="-457200" algn="l">
                        <a:lnSpc>
                          <a:spcPct val="115000"/>
                        </a:lnSpc>
                        <a:buSzPct val="105000"/>
                        <a:buFont typeface="+mj-lt"/>
                        <a:buAutoNum type="arabicPeriod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Linear Systems</a:t>
                      </a:r>
                    </a:p>
                    <a:p>
                      <a:pPr marL="804863" lvl="2" indent="-457200" algn="l">
                        <a:lnSpc>
                          <a:spcPct val="115000"/>
                        </a:lnSpc>
                        <a:buSzPct val="105000"/>
                        <a:buFont typeface="+mj-lt"/>
                        <a:buAutoNum type="arabicPeriod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Back Substitution</a:t>
                      </a:r>
                    </a:p>
                    <a:p>
                      <a:pPr marL="804863" lvl="2" indent="-457200" algn="l">
                        <a:lnSpc>
                          <a:spcPct val="115000"/>
                        </a:lnSpc>
                        <a:buSzPct val="105000"/>
                        <a:buFont typeface="+mj-lt"/>
                        <a:buAutoNum type="arabicPeriod"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Matrix Transformations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 World Application:</a:t>
                      </a:r>
                    </a:p>
                    <a:p>
                      <a:pPr marL="442913" indent="-179388" algn="l">
                        <a:buFont typeface="+mj-lt"/>
                        <a:buAutoNum type="arabicPeriod"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</a:t>
                      </a:r>
                    </a:p>
                    <a:p>
                      <a:pPr marL="442913" indent="-179388" algn="l">
                        <a:buFont typeface="+mj-lt"/>
                        <a:buAutoNum type="arabicPeriod"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</a:t>
                      </a:r>
                    </a:p>
                    <a:p>
                      <a:pPr marL="442913" indent="-179388" algn="l">
                        <a:buFont typeface="+mj-lt"/>
                        <a:buAutoNum type="arabicPeriod"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Calculations </a:t>
                      </a:r>
                    </a:p>
                    <a:p>
                      <a:pPr marL="442913" indent="-179388" algn="l">
                        <a:buFont typeface="+mj-lt"/>
                        <a:buAutoNum type="arabicPeriod"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Circuit Analysis </a:t>
                      </a:r>
                    </a:p>
                    <a:p>
                      <a:pPr marL="442913" indent="-179388" algn="l">
                        <a:buFont typeface="+mj-lt"/>
                        <a:buAutoNum type="arabicPeriod"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Graphics </a:t>
                      </a:r>
                    </a:p>
                    <a:p>
                      <a:pPr marL="442913" indent="-179388" algn="l">
                        <a:buFont typeface="+mj-lt"/>
                        <a:buAutoNum type="arabicPeriod"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Science 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3649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0" y="-9832"/>
            <a:ext cx="12192000" cy="967775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IN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238250" y="3867562"/>
            <a:ext cx="11715500" cy="1975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92036" y="1130383"/>
            <a:ext cx="11750554" cy="44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Gaussian Elimination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matrix row reduction using Python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step-by-step transformations clearly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solutions of systems of linear equations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Linear Algebra concepts to real-world problems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computational efficiency using NumPy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practical applications in AI, Machine Learning, and Data Science </a:t>
            </a:r>
          </a:p>
          <a:p>
            <a:pPr marL="584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j-lt"/>
              <a:buAutoNum type="arabicPeriod"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996663" y="3788878"/>
            <a:ext cx="105991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-329" y="205964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111760" y="345200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5969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3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Theory</a:t>
            </a:r>
            <a:endParaRPr sz="32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Google Shape;121;p27"/>
              <p:cNvSpPr txBox="1"/>
              <p:nvPr/>
            </p:nvSpPr>
            <p:spPr>
              <a:xfrm>
                <a:off x="269120" y="1242817"/>
                <a:ext cx="11474100" cy="5632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IN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 of Linear Equations</a:t>
                </a:r>
              </a:p>
              <a:p>
                <a:r>
                  <a:rPr lang="en-I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system of linear equations can be represented as:</a:t>
                </a:r>
                <a:br>
                  <a:rPr lang="en-I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000" i="1"/>
                        <m:t>𝐴𝑋</m:t>
                      </m:r>
                      <m:r>
                        <a:rPr lang="en-IN" sz="4000"/>
                        <m:t>=</m:t>
                      </m:r>
                      <m:r>
                        <a:rPr lang="en-IN" sz="4000" i="1"/>
                        <m:t>𝐵</m:t>
                      </m:r>
                    </m:oMath>
                  </m:oMathPara>
                </a14:m>
                <a:endParaRPr lang="en-I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sz="4000" i="1"/>
                      <m:t>𝐴</m:t>
                    </m:r>
                  </m:oMath>
                </a14:m>
                <a:r>
                  <a:rPr lang="en-I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Coefficient Matrix </a:t>
                </a:r>
              </a:p>
              <a:p>
                <a14:m>
                  <m:oMath xmlns:m="http://schemas.openxmlformats.org/officeDocument/2006/math">
                    <m:r>
                      <a:rPr lang="en-IN" sz="4000" i="1"/>
                      <m:t>𝑋</m:t>
                    </m:r>
                  </m:oMath>
                </a14:m>
                <a:r>
                  <a:rPr lang="en-I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Variable Matrix </a:t>
                </a:r>
              </a:p>
              <a:p>
                <a14:m>
                  <m:oMath xmlns:m="http://schemas.openxmlformats.org/officeDocument/2006/math">
                    <m:r>
                      <a:rPr lang="en-IN" sz="4000" i="1"/>
                      <m:t>𝐵</m:t>
                    </m:r>
                  </m:oMath>
                </a14:m>
                <a:r>
                  <a:rPr lang="en-I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Constant Matrix </a:t>
                </a:r>
              </a:p>
              <a:p>
                <a:br>
                  <a:rPr lang="en-IN" sz="2000" dirty="0"/>
                </a:br>
                <a:endParaRPr sz="2000" dirty="0"/>
              </a:p>
            </p:txBody>
          </p:sp>
        </mc:Choice>
        <mc:Fallback>
          <p:sp>
            <p:nvSpPr>
              <p:cNvPr id="121" name="Google Shape;121;p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20" y="1242817"/>
                <a:ext cx="11474100" cy="5632271"/>
              </a:xfrm>
              <a:prstGeom prst="rect">
                <a:avLst/>
              </a:prstGeom>
              <a:blipFill>
                <a:blip r:embed="rId3"/>
                <a:stretch>
                  <a:fillRect l="-1860" t="-19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86E484B-12E4-08E9-B0A6-ADC726867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>
            <a:extLst>
              <a:ext uri="{FF2B5EF4-FFF2-40B4-BE49-F238E27FC236}">
                <a16:creationId xmlns:a16="http://schemas.microsoft.com/office/drawing/2014/main" id="{AE5B4D89-671B-09EC-19AF-B7975A9D89DD}"/>
              </a:ext>
            </a:extLst>
          </p:cNvPr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>
            <a:extLst>
              <a:ext uri="{FF2B5EF4-FFF2-40B4-BE49-F238E27FC236}">
                <a16:creationId xmlns:a16="http://schemas.microsoft.com/office/drawing/2014/main" id="{21C9BAB1-E17B-B80F-54C3-5446107F0EAF}"/>
              </a:ext>
            </a:extLst>
          </p:cNvPr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5969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Theory</a:t>
            </a:r>
            <a:endParaRPr sz="32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Google Shape;121;p27">
                <a:extLst>
                  <a:ext uri="{FF2B5EF4-FFF2-40B4-BE49-F238E27FC236}">
                    <a16:creationId xmlns:a16="http://schemas.microsoft.com/office/drawing/2014/main" id="{19CA59E5-5014-E5E9-5B76-D370E770D126}"/>
                  </a:ext>
                </a:extLst>
              </p:cNvPr>
              <p:cNvSpPr txBox="1"/>
              <p:nvPr/>
            </p:nvSpPr>
            <p:spPr>
              <a:xfrm>
                <a:off x="250267" y="1223964"/>
                <a:ext cx="11474100" cy="4991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Elimination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Elimination is a method used to solve systems of linear equations by converting the augmented matrix into row echelon form using elementary row operations.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Elementary Row Operations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Row Swapping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Multiplying a row by a non-zero constant 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Adding/Subtracting rows 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Augmented Matrix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1" name="Google Shape;121;p27">
                <a:extLst>
                  <a:ext uri="{FF2B5EF4-FFF2-40B4-BE49-F238E27FC236}">
                    <a16:creationId xmlns:a16="http://schemas.microsoft.com/office/drawing/2014/main" id="{19CA59E5-5014-E5E9-5B76-D370E770D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67" y="1223964"/>
                <a:ext cx="11474100" cy="4991839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57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7C5115EA-97D3-AC58-161E-310F1488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>
            <a:extLst>
              <a:ext uri="{FF2B5EF4-FFF2-40B4-BE49-F238E27FC236}">
                <a16:creationId xmlns:a16="http://schemas.microsoft.com/office/drawing/2014/main" id="{0312BBAC-2E5B-F060-56D3-4818962BF474}"/>
              </a:ext>
            </a:extLst>
          </p:cNvPr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>
            <a:extLst>
              <a:ext uri="{FF2B5EF4-FFF2-40B4-BE49-F238E27FC236}">
                <a16:creationId xmlns:a16="http://schemas.microsoft.com/office/drawing/2014/main" id="{0DAADF46-3A0E-82DC-B4F1-C7C660ACE710}"/>
              </a:ext>
            </a:extLst>
          </p:cNvPr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5969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IN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Theory</a:t>
            </a:r>
            <a:endParaRPr sz="32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Google Shape;121;p27">
                <a:extLst>
                  <a:ext uri="{FF2B5EF4-FFF2-40B4-BE49-F238E27FC236}">
                    <a16:creationId xmlns:a16="http://schemas.microsoft.com/office/drawing/2014/main" id="{F7782E72-5C58-C9B9-7F04-5C50E08C0B37}"/>
                  </a:ext>
                </a:extLst>
              </p:cNvPr>
              <p:cNvSpPr txBox="1"/>
              <p:nvPr/>
            </p:nvSpPr>
            <p:spPr>
              <a:xfrm>
                <a:off x="250267" y="1223964"/>
                <a:ext cx="11474100" cy="4789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 Echelon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e>
                              <m:e>
                                <m:r>
                                  <a:rPr lang="ar-AE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ar-AE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 Substitution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final matrix: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algn="just"/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1" name="Google Shape;121;p27">
                <a:extLst>
                  <a:ext uri="{FF2B5EF4-FFF2-40B4-BE49-F238E27FC236}">
                    <a16:creationId xmlns:a16="http://schemas.microsoft.com/office/drawing/2014/main" id="{F7782E72-5C58-C9B9-7F04-5C50E08C0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67" y="1223964"/>
                <a:ext cx="11474100" cy="4789925"/>
              </a:xfrm>
              <a:prstGeom prst="rect">
                <a:avLst/>
              </a:prstGeom>
              <a:blipFill>
                <a:blip r:embed="rId3"/>
                <a:stretch>
                  <a:fillRect l="-797" t="-10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971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IN" sz="32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Algorithm/ </a:t>
            </a:r>
            <a:r>
              <a:rPr lang="en-IN" sz="32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Pseudocode</a:t>
            </a:r>
            <a:endParaRPr sz="3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257050" y="1121800"/>
            <a:ext cx="11934900" cy="52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C0D58B3-047B-D734-9E82-4354912B9B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157652"/>
                  </p:ext>
                </p:extLst>
              </p:nvPr>
            </p:nvGraphicFramePr>
            <p:xfrm>
              <a:off x="257000" y="1389360"/>
              <a:ext cx="11677950" cy="5059680"/>
            </p:xfrm>
            <a:graphic>
              <a:graphicData uri="http://schemas.openxmlformats.org/drawingml/2006/table">
                <a:tbl>
                  <a:tblPr firstRow="1" bandRow="1">
                    <a:tableStyleId>{9880BE6C-7485-48FC-9D8E-5863A4461E3C}</a:tableStyleId>
                  </a:tblPr>
                  <a:tblGrid>
                    <a:gridCol w="5738447">
                      <a:extLst>
                        <a:ext uri="{9D8B030D-6E8A-4147-A177-3AD203B41FA5}">
                          <a16:colId xmlns:a16="http://schemas.microsoft.com/office/drawing/2014/main" val="3111018853"/>
                        </a:ext>
                      </a:extLst>
                    </a:gridCol>
                    <a:gridCol w="5939503">
                      <a:extLst>
                        <a:ext uri="{9D8B030D-6E8A-4147-A177-3AD203B41FA5}">
                          <a16:colId xmlns:a16="http://schemas.microsoft.com/office/drawing/2014/main" val="512413665"/>
                        </a:ext>
                      </a:extLst>
                    </a:gridCol>
                  </a:tblGrid>
                  <a:tr h="48341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3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Algorithm</a:t>
                          </a:r>
                        </a:p>
                        <a:p>
                          <a:b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1: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Start the program</a:t>
                          </a: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2: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Input the coefficient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b="0" i="1" u="none" strike="noStrike" cap="none">
                                  <a:solidFill>
                                    <a:srgbClr val="000000"/>
                                  </a:solidFill>
                                  <a:latin typeface="Arial"/>
                                  <a:ea typeface="Arial"/>
                                  <a:cs typeface="Arial"/>
                                  <a:sym typeface="Arial"/>
                                </a:rPr>
                                <m:t>𝐴</m:t>
                              </m:r>
                            </m:oMath>
                          </a14:m>
                          <a:endParaRPr lang="en-IN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3: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Input the constant matrix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b="0" i="1" u="none" strike="noStrike" cap="none">
                                  <a:solidFill>
                                    <a:srgbClr val="000000"/>
                                  </a:solidFill>
                                  <a:latin typeface="Arial"/>
                                  <a:ea typeface="Arial"/>
                                  <a:cs typeface="Arial"/>
                                  <a:sym typeface="Arial"/>
                                </a:rPr>
                                <m:t>𝐵</m:t>
                              </m:r>
                            </m:oMath>
                          </a14:m>
                          <a:endParaRPr lang="en-IN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4: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 the augmented matrix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sz="18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ea typeface="Arial"/>
                                      <a:cs typeface="Arial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ar-AE" sz="18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𝐴</m:t>
                                  </m:r>
                                  <m:r>
                                    <a:rPr lang="ar-AE" sz="1800" b="0" i="0" u="none" strike="noStrike" cap="none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∣</m:t>
                                  </m:r>
                                  <m:r>
                                    <a:rPr lang="ar-AE" sz="1800" b="0" i="1" u="none" strike="noStrike" cap="none">
                                      <a:solidFill>
                                        <a:srgbClr val="000000"/>
                                      </a:solidFill>
                                      <a:latin typeface="Arial"/>
                                      <a:ea typeface="Arial"/>
                                      <a:cs typeface="Arial"/>
                                      <a:sym typeface="Arial"/>
                                    </a:rPr>
                                    <m:t>𝐵</m:t>
                                  </m:r>
                                </m:e>
                              </m:d>
                            </m:oMath>
                          </a14:m>
                          <a:endParaRPr lang="ar-AE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5: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Select the pivot element</a:t>
                          </a: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6: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Perform row operations to make elements below </a:t>
                          </a:r>
                        </a:p>
                        <a:p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 pivot equal to zero</a:t>
                          </a: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7: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Repeat elimination process for all rows</a:t>
                          </a: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8: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Convert the matrix into row echelon form</a:t>
                          </a: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9: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Apply back substitution to calculate variable values</a:t>
                          </a: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10: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Display the solutions</a:t>
                          </a:r>
                        </a:p>
                        <a:p>
                          <a:r>
                            <a:rPr lang="en-IN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Step 11:</a:t>
                          </a:r>
                          <a:r>
                            <a:rPr lang="en-IN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End the program</a:t>
                          </a:r>
                        </a:p>
                        <a:p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3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Pseudocode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START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Input matrix A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Input matrix B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Form augmented matrix [A|B]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FOR each pivot row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Make pivot element non-zero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FOR each row below pivot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    Perform row operation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    Make lower element zero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END FOR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END FOR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Perform back substitution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Display values of variables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END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9761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AC0D58B3-047B-D734-9E82-4354912B9B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157652"/>
                  </p:ext>
                </p:extLst>
              </p:nvPr>
            </p:nvGraphicFramePr>
            <p:xfrm>
              <a:off x="257000" y="1389360"/>
              <a:ext cx="11677950" cy="5059680"/>
            </p:xfrm>
            <a:graphic>
              <a:graphicData uri="http://schemas.openxmlformats.org/drawingml/2006/table">
                <a:tbl>
                  <a:tblPr firstRow="1" bandRow="1">
                    <a:tableStyleId>{9880BE6C-7485-48FC-9D8E-5863A4461E3C}</a:tableStyleId>
                  </a:tblPr>
                  <a:tblGrid>
                    <a:gridCol w="5738447">
                      <a:extLst>
                        <a:ext uri="{9D8B030D-6E8A-4147-A177-3AD203B41FA5}">
                          <a16:colId xmlns:a16="http://schemas.microsoft.com/office/drawing/2014/main" val="3111018853"/>
                        </a:ext>
                      </a:extLst>
                    </a:gridCol>
                    <a:gridCol w="5939503">
                      <a:extLst>
                        <a:ext uri="{9D8B030D-6E8A-4147-A177-3AD203B41FA5}">
                          <a16:colId xmlns:a16="http://schemas.microsoft.com/office/drawing/2014/main" val="512413665"/>
                        </a:ext>
                      </a:extLst>
                    </a:gridCol>
                  </a:tblGrid>
                  <a:tr h="5059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6" t="-1564" r="-103609" b="-1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3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Pseudocode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START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Input matrix A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Input matrix B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Form augmented matrix [A|B]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FOR each pivot row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Make pivot element non-zero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FOR each row below pivot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    Perform row operation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    Make lower element zero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    END FOR</a:t>
                          </a: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END FOR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Perform back substitution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Display values of variables</a:t>
                          </a:r>
                        </a:p>
                        <a:p>
                          <a:pPr marL="895350" indent="0" algn="l"/>
                          <a:endParaRPr lang="en-IN" sz="1400" b="0" dirty="0">
                            <a:solidFill>
                              <a:schemeClr val="tx1"/>
                            </a:solid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endParaRPr>
                        </a:p>
                        <a:p>
                          <a:pPr marL="895350" indent="0" algn="l"/>
                          <a:r>
                            <a:rPr lang="en-IN" sz="14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Times New Roman"/>
                              <a:cs typeface="Times New Roman"/>
                              <a:sym typeface="Times New Roman"/>
                            </a:rPr>
                            <a:t>END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697617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Implementation</a:t>
            </a: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endParaRPr sz="32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257044" y="1290082"/>
            <a:ext cx="10322563" cy="503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257044" y="6170419"/>
            <a:ext cx="11677912" cy="30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409444" y="1285255"/>
            <a:ext cx="11677912" cy="4885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n-IN"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86813" y="1741377"/>
            <a:ext cx="11484077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849234-81A4-9CF5-3A53-369F21681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876997"/>
              </p:ext>
            </p:extLst>
          </p:nvPr>
        </p:nvGraphicFramePr>
        <p:xfrm>
          <a:off x="521110" y="1132854"/>
          <a:ext cx="11302180" cy="5646420"/>
        </p:xfrm>
        <a:graphic>
          <a:graphicData uri="http://schemas.openxmlformats.org/drawingml/2006/table">
            <a:tbl>
              <a:tblPr firstRow="1" bandRow="1">
                <a:tableStyleId>{9880BE6C-7485-48FC-9D8E-5863A4461E3C}</a:tableStyleId>
              </a:tblPr>
              <a:tblGrid>
                <a:gridCol w="5651090">
                  <a:extLst>
                    <a:ext uri="{9D8B030D-6E8A-4147-A177-3AD203B41FA5}">
                      <a16:colId xmlns:a16="http://schemas.microsoft.com/office/drawing/2014/main" val="36938695"/>
                    </a:ext>
                  </a:extLst>
                </a:gridCol>
                <a:gridCol w="5651090">
                  <a:extLst>
                    <a:ext uri="{9D8B030D-6E8A-4147-A177-3AD203B41FA5}">
                      <a16:colId xmlns:a16="http://schemas.microsoft.com/office/drawing/2014/main" val="3321865121"/>
                    </a:ext>
                  </a:extLst>
                </a:gridCol>
              </a:tblGrid>
              <a:tr h="5026501">
                <a:tc>
                  <a:txBody>
                    <a:bodyPr/>
                    <a:lstStyle/>
                    <a:p>
                      <a:r>
                        <a:rPr lang="en-IN" sz="1800" dirty="0"/>
                        <a:t>import </a:t>
                      </a:r>
                      <a:r>
                        <a:rPr lang="en-IN" sz="1800" dirty="0" err="1"/>
                        <a:t>numpy</a:t>
                      </a:r>
                      <a:r>
                        <a:rPr lang="en-IN" sz="1800" dirty="0"/>
                        <a:t> as np</a:t>
                      </a:r>
                    </a:p>
                    <a:p>
                      <a:r>
                        <a:rPr lang="en-IN" sz="1800" dirty="0"/>
                        <a:t>def </a:t>
                      </a:r>
                      <a:r>
                        <a:rPr lang="en-IN" sz="1800" dirty="0" err="1"/>
                        <a:t>gaussian_elimination</a:t>
                      </a:r>
                      <a:r>
                        <a:rPr lang="en-IN" sz="1800" dirty="0"/>
                        <a:t>(A, B):</a:t>
                      </a:r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    n = </a:t>
                      </a:r>
                      <a:r>
                        <a:rPr lang="en-IN" sz="1800" dirty="0" err="1"/>
                        <a:t>len</a:t>
                      </a:r>
                      <a:r>
                        <a:rPr lang="en-IN" sz="1800" dirty="0"/>
                        <a:t>(B)</a:t>
                      </a:r>
                    </a:p>
                    <a:p>
                      <a:endParaRPr lang="en-IN" sz="1050" dirty="0"/>
                    </a:p>
                    <a:p>
                      <a:r>
                        <a:rPr lang="en-IN" sz="1800" dirty="0"/>
                        <a:t>    # Form Augmented Matrix</a:t>
                      </a:r>
                    </a:p>
                    <a:p>
                      <a:r>
                        <a:rPr lang="en-IN" sz="1800" dirty="0"/>
                        <a:t>   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 = </a:t>
                      </a:r>
                      <a:r>
                        <a:rPr lang="en-IN" sz="1800" dirty="0" err="1"/>
                        <a:t>np.hstack</a:t>
                      </a:r>
                      <a:r>
                        <a:rPr lang="en-IN" sz="1800" dirty="0"/>
                        <a:t>((A, </a:t>
                      </a:r>
                      <a:r>
                        <a:rPr lang="en-IN" sz="1800" dirty="0" err="1"/>
                        <a:t>B.reshape</a:t>
                      </a:r>
                      <a:r>
                        <a:rPr lang="en-IN" sz="1800" dirty="0"/>
                        <a:t>(-1,1)))</a:t>
                      </a:r>
                    </a:p>
                    <a:p>
                      <a:endParaRPr lang="en-IN" sz="1200" dirty="0"/>
                    </a:p>
                    <a:p>
                      <a:r>
                        <a:rPr lang="en-IN" sz="1800" dirty="0"/>
                        <a:t>    print("\</a:t>
                      </a:r>
                      <a:r>
                        <a:rPr lang="en-IN" sz="1800" dirty="0" err="1"/>
                        <a:t>nInitial</a:t>
                      </a:r>
                      <a:r>
                        <a:rPr lang="en-IN" sz="1800" dirty="0"/>
                        <a:t> Augmented Matrix:\n")</a:t>
                      </a:r>
                    </a:p>
                    <a:p>
                      <a:r>
                        <a:rPr lang="en-IN" sz="1800" dirty="0"/>
                        <a:t>    print(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)</a:t>
                      </a:r>
                    </a:p>
                    <a:p>
                      <a:br>
                        <a:rPr lang="en-IN" sz="1800" dirty="0"/>
                      </a:br>
                      <a:r>
                        <a:rPr lang="en-IN" sz="1800" dirty="0"/>
                        <a:t>for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 in range(n):</a:t>
                      </a:r>
                    </a:p>
                    <a:p>
                      <a:r>
                        <a:rPr lang="en-IN" sz="1800" dirty="0"/>
                        <a:t>        if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 == 0:</a:t>
                      </a:r>
                    </a:p>
                    <a:p>
                      <a:r>
                        <a:rPr lang="en-IN" sz="1800" dirty="0"/>
                        <a:t>            print("Zero pivot encountered!")</a:t>
                      </a:r>
                    </a:p>
                    <a:p>
                      <a:r>
                        <a:rPr lang="en-IN" sz="1800" dirty="0"/>
                        <a:t>            return</a:t>
                      </a:r>
                    </a:p>
                    <a:p>
                      <a:r>
                        <a:rPr lang="en-IN" sz="1800" dirty="0"/>
                        <a:t> pivot =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</a:t>
                      </a:r>
                    </a:p>
                    <a:p>
                      <a:r>
                        <a:rPr lang="en-IN" sz="1800" dirty="0"/>
                        <a:t>       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 =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 / pivot</a:t>
                      </a:r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        print(f"\</a:t>
                      </a:r>
                      <a:r>
                        <a:rPr lang="en-IN" sz="1800" dirty="0" err="1"/>
                        <a:t>nStep</a:t>
                      </a:r>
                      <a:r>
                        <a:rPr lang="en-IN" sz="1800" dirty="0"/>
                        <a:t> {i+1}: Make Pivot Element 1")</a:t>
                      </a:r>
                    </a:p>
                    <a:p>
                      <a:r>
                        <a:rPr lang="en-IN" sz="1800" dirty="0"/>
                        <a:t>        print(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)</a:t>
                      </a:r>
                    </a:p>
                    <a:p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        for j in range(i+1, n):</a:t>
                      </a:r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            factor =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[j][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</a:t>
                      </a:r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           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[j] =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[j] - factor *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</a:t>
                      </a:r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            print(f"\</a:t>
                      </a:r>
                      <a:r>
                        <a:rPr lang="en-IN" sz="1800" dirty="0" err="1"/>
                        <a:t>nEliminating</a:t>
                      </a:r>
                      <a:r>
                        <a:rPr lang="en-IN" sz="1800" dirty="0"/>
                        <a:t> element in Row {j+1}")</a:t>
                      </a:r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            print(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)</a:t>
                      </a:r>
                      <a:br>
                        <a:rPr lang="en-IN" sz="1800" dirty="0"/>
                      </a:br>
                      <a:endParaRPr lang="en-IN" sz="1800" dirty="0"/>
                    </a:p>
                    <a:p>
                      <a:r>
                        <a:rPr lang="en-IN" sz="1800" dirty="0"/>
                        <a:t>x = </a:t>
                      </a:r>
                      <a:r>
                        <a:rPr lang="en-IN" sz="1800" dirty="0" err="1"/>
                        <a:t>np.zeros</a:t>
                      </a:r>
                      <a:r>
                        <a:rPr lang="en-IN" sz="1800" dirty="0"/>
                        <a:t>(n)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           for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 in range(n-1, -1, -1):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             x[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 =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][n]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           for j in range(i+1, n):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              x[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 = x[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 - 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][j] * x[j]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9258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Implementation(</a:t>
            </a:r>
            <a:r>
              <a:rPr lang="en-IN" sz="3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</a:t>
            </a:r>
            <a:r>
              <a:rPr lang="en-IN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endParaRPr sz="32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257044" y="1290082"/>
            <a:ext cx="10322563" cy="503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257044" y="6170419"/>
            <a:ext cx="11677912" cy="30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409444" y="1285255"/>
            <a:ext cx="11677912" cy="4885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86813" y="1741377"/>
            <a:ext cx="11484077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FBE24D-0186-0BB9-C76F-5C0D1E868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079041"/>
              </p:ext>
            </p:extLst>
          </p:nvPr>
        </p:nvGraphicFramePr>
        <p:xfrm>
          <a:off x="521110" y="1132854"/>
          <a:ext cx="11302180" cy="5577840"/>
        </p:xfrm>
        <a:graphic>
          <a:graphicData uri="http://schemas.openxmlformats.org/drawingml/2006/table">
            <a:tbl>
              <a:tblPr firstRow="1" bandRow="1">
                <a:tableStyleId>{9880BE6C-7485-48FC-9D8E-5863A4461E3C}</a:tableStyleId>
              </a:tblPr>
              <a:tblGrid>
                <a:gridCol w="5651090">
                  <a:extLst>
                    <a:ext uri="{9D8B030D-6E8A-4147-A177-3AD203B41FA5}">
                      <a16:colId xmlns:a16="http://schemas.microsoft.com/office/drawing/2014/main" val="36938695"/>
                    </a:ext>
                  </a:extLst>
                </a:gridCol>
                <a:gridCol w="5651090">
                  <a:extLst>
                    <a:ext uri="{9D8B030D-6E8A-4147-A177-3AD203B41FA5}">
                      <a16:colId xmlns:a16="http://schemas.microsoft.com/office/drawing/2014/main" val="3321865121"/>
                    </a:ext>
                  </a:extLst>
                </a:gridCol>
              </a:tblGrid>
              <a:tr h="5026501">
                <a:tc>
                  <a:txBody>
                    <a:bodyPr/>
                    <a:lstStyle/>
                    <a:p>
                      <a:r>
                        <a:rPr lang="en-IN" sz="1800" dirty="0"/>
                        <a:t># Display Final Solution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print("\</a:t>
                      </a:r>
                      <a:r>
                        <a:rPr lang="en-IN" sz="1800" dirty="0" err="1"/>
                        <a:t>nFinal</a:t>
                      </a:r>
                      <a:r>
                        <a:rPr lang="en-IN" sz="1800" dirty="0"/>
                        <a:t> Row Echelon Form:\n")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print(</a:t>
                      </a:r>
                      <a:r>
                        <a:rPr lang="en-IN" sz="1800" dirty="0" err="1"/>
                        <a:t>aug</a:t>
                      </a:r>
                      <a:r>
                        <a:rPr lang="en-IN" sz="1800" dirty="0"/>
                        <a:t>)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print("\</a:t>
                      </a:r>
                      <a:r>
                        <a:rPr lang="en-IN" sz="1800" dirty="0" err="1"/>
                        <a:t>nSolution</a:t>
                      </a:r>
                      <a:r>
                        <a:rPr lang="en-IN" sz="1800" dirty="0"/>
                        <a:t>:")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for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 in range(n):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print(</a:t>
                      </a:r>
                      <a:r>
                        <a:rPr lang="en-IN" sz="1800" dirty="0" err="1"/>
                        <a:t>f"x</a:t>
                      </a:r>
                      <a:r>
                        <a:rPr lang="en-IN" sz="1800" dirty="0"/>
                        <a:t>{i+1} = {x[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]}")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n = int(input("Enter number of variables: "))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print("\</a:t>
                      </a:r>
                      <a:r>
                        <a:rPr lang="en-IN" sz="1800" dirty="0" err="1"/>
                        <a:t>nEnter</a:t>
                      </a:r>
                      <a:r>
                        <a:rPr lang="en-IN" sz="1800" dirty="0"/>
                        <a:t> Coefficient Matrix:")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A = []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for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 in range(n):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row = list(map(float, input(</a:t>
                      </a:r>
                      <a:r>
                        <a:rPr lang="en-IN" sz="1800" dirty="0" err="1"/>
                        <a:t>f"Enter</a:t>
                      </a:r>
                      <a:r>
                        <a:rPr lang="en-IN" sz="1800" dirty="0"/>
                        <a:t> row {i+1}: ").split()))</a:t>
                      </a:r>
                      <a:br>
                        <a:rPr lang="en-IN" sz="1800" dirty="0"/>
                      </a:br>
                      <a:r>
                        <a:rPr lang="en-IN" sz="1800" dirty="0" err="1"/>
                        <a:t>A.append</a:t>
                      </a:r>
                      <a:r>
                        <a:rPr lang="en-IN" sz="1800" dirty="0"/>
                        <a:t>(row)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A = </a:t>
                      </a:r>
                      <a:r>
                        <a:rPr lang="en-IN" sz="1800" dirty="0" err="1"/>
                        <a:t>np.array</a:t>
                      </a:r>
                      <a:r>
                        <a:rPr lang="en-IN" sz="1800" dirty="0"/>
                        <a:t>(A)</a:t>
                      </a:r>
                      <a:br>
                        <a:rPr lang="en-IN" sz="1800" dirty="0"/>
                      </a:b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dirty="0"/>
                        <a:t>print("\</a:t>
                      </a:r>
                      <a:r>
                        <a:rPr lang="en-IN" sz="1800" dirty="0" err="1"/>
                        <a:t>nEnter</a:t>
                      </a:r>
                      <a:r>
                        <a:rPr lang="en-IN" sz="1800" dirty="0"/>
                        <a:t> Constant Matrix:")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B = []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for </a:t>
                      </a:r>
                      <a:r>
                        <a:rPr lang="en-IN" sz="1800" dirty="0" err="1"/>
                        <a:t>i</a:t>
                      </a:r>
                      <a:r>
                        <a:rPr lang="en-IN" sz="1800" dirty="0"/>
                        <a:t> in range(n):</a:t>
                      </a:r>
                      <a:br>
                        <a:rPr lang="en-IN" sz="1800" dirty="0"/>
                      </a:br>
                      <a:r>
                        <a:rPr lang="en-IN" sz="1800" dirty="0"/>
                        <a:t>value = float(input(</a:t>
                      </a:r>
                      <a:r>
                        <a:rPr lang="en-IN" sz="1800" dirty="0" err="1"/>
                        <a:t>f"Enter</a:t>
                      </a:r>
                      <a:r>
                        <a:rPr lang="en-IN" sz="1800" dirty="0"/>
                        <a:t> constant {i+1}: "))</a:t>
                      </a:r>
                      <a:br>
                        <a:rPr lang="en-IN" sz="1800" dirty="0"/>
                      </a:br>
                      <a:r>
                        <a:rPr lang="en-IN" sz="1800" dirty="0" err="1"/>
                        <a:t>B.append</a:t>
                      </a:r>
                      <a:r>
                        <a:rPr lang="en-IN" sz="1800" dirty="0"/>
                        <a:t>(value)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B = </a:t>
                      </a:r>
                      <a:r>
                        <a:rPr lang="en-IN" sz="1800" dirty="0" err="1"/>
                        <a:t>np.array</a:t>
                      </a:r>
                      <a:r>
                        <a:rPr lang="en-IN" sz="1800" dirty="0"/>
                        <a:t>(B)</a:t>
                      </a:r>
                      <a:br>
                        <a:rPr lang="en-IN" sz="1800" dirty="0"/>
                      </a:br>
                      <a:br>
                        <a:rPr lang="en-IN" sz="1800" dirty="0"/>
                      </a:br>
                      <a:r>
                        <a:rPr lang="en-IN" sz="1800" dirty="0"/>
                        <a:t># Function Call</a:t>
                      </a:r>
                      <a:br>
                        <a:rPr lang="en-IN" sz="1800" dirty="0"/>
                      </a:br>
                      <a:r>
                        <a:rPr lang="en-IN" sz="1800" dirty="0" err="1"/>
                        <a:t>gaussian_elimination</a:t>
                      </a:r>
                      <a:r>
                        <a:rPr lang="en-IN" sz="1800" dirty="0"/>
                        <a:t>(A,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92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718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2AD98E12-2D4F-6F17-4E0C-1E5D2105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>
            <a:extLst>
              <a:ext uri="{FF2B5EF4-FFF2-40B4-BE49-F238E27FC236}">
                <a16:creationId xmlns:a16="http://schemas.microsoft.com/office/drawing/2014/main" id="{D028BF32-4ED8-37AE-01B9-5512EE22748F}"/>
              </a:ext>
            </a:extLst>
          </p:cNvPr>
          <p:cNvSpPr txBox="1"/>
          <p:nvPr/>
        </p:nvSpPr>
        <p:spPr>
          <a:xfrm>
            <a:off x="0" y="6491111"/>
            <a:ext cx="12192000" cy="366889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>
            <a:extLst>
              <a:ext uri="{FF2B5EF4-FFF2-40B4-BE49-F238E27FC236}">
                <a16:creationId xmlns:a16="http://schemas.microsoft.com/office/drawing/2014/main" id="{14E294F0-AB82-13E5-F3B1-8967E513F5D4}"/>
              </a:ext>
            </a:extLst>
          </p:cNvPr>
          <p:cNvSpPr txBox="1"/>
          <p:nvPr/>
        </p:nvSpPr>
        <p:spPr>
          <a:xfrm>
            <a:off x="0" y="0"/>
            <a:ext cx="12192000" cy="112179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Execution (</a:t>
            </a:r>
            <a:r>
              <a:rPr lang="en-US" sz="3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Example)</a:t>
            </a:r>
            <a:endParaRPr sz="32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8">
            <a:extLst>
              <a:ext uri="{FF2B5EF4-FFF2-40B4-BE49-F238E27FC236}">
                <a16:creationId xmlns:a16="http://schemas.microsoft.com/office/drawing/2014/main" id="{89F06885-22CB-B261-F040-3C3123363CCA}"/>
              </a:ext>
            </a:extLst>
          </p:cNvPr>
          <p:cNvSpPr txBox="1"/>
          <p:nvPr/>
        </p:nvSpPr>
        <p:spPr>
          <a:xfrm>
            <a:off x="257044" y="1290082"/>
            <a:ext cx="10322563" cy="503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>
            <a:extLst>
              <a:ext uri="{FF2B5EF4-FFF2-40B4-BE49-F238E27FC236}">
                <a16:creationId xmlns:a16="http://schemas.microsoft.com/office/drawing/2014/main" id="{DB9AFEB0-6080-0A7F-80EF-A1EF4FEAF7C8}"/>
              </a:ext>
            </a:extLst>
          </p:cNvPr>
          <p:cNvSpPr txBox="1"/>
          <p:nvPr/>
        </p:nvSpPr>
        <p:spPr>
          <a:xfrm>
            <a:off x="257044" y="6170419"/>
            <a:ext cx="11677912" cy="30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>
            <a:extLst>
              <a:ext uri="{FF2B5EF4-FFF2-40B4-BE49-F238E27FC236}">
                <a16:creationId xmlns:a16="http://schemas.microsoft.com/office/drawing/2014/main" id="{9194A5BA-E7D2-FEBC-A890-2FA78D22061D}"/>
              </a:ext>
            </a:extLst>
          </p:cNvPr>
          <p:cNvSpPr txBox="1"/>
          <p:nvPr/>
        </p:nvSpPr>
        <p:spPr>
          <a:xfrm>
            <a:off x="89895" y="1285255"/>
            <a:ext cx="11677912" cy="4885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>
            <a:extLst>
              <a:ext uri="{FF2B5EF4-FFF2-40B4-BE49-F238E27FC236}">
                <a16:creationId xmlns:a16="http://schemas.microsoft.com/office/drawing/2014/main" id="{AD15AE87-E6A2-62AC-C25A-7CEC7A7CC13A}"/>
              </a:ext>
            </a:extLst>
          </p:cNvPr>
          <p:cNvSpPr/>
          <p:nvPr/>
        </p:nvSpPr>
        <p:spPr>
          <a:xfrm>
            <a:off x="186813" y="1741377"/>
            <a:ext cx="11484077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8B0B83-E5D4-C5C2-D655-2C4DDA437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560885"/>
              </p:ext>
            </p:extLst>
          </p:nvPr>
        </p:nvGraphicFramePr>
        <p:xfrm>
          <a:off x="257043" y="1285254"/>
          <a:ext cx="11748144" cy="5091989"/>
        </p:xfrm>
        <a:graphic>
          <a:graphicData uri="http://schemas.openxmlformats.org/drawingml/2006/table">
            <a:tbl>
              <a:tblPr firstRow="1" bandRow="1">
                <a:tableStyleId>{9880BE6C-7485-48FC-9D8E-5863A4461E3C}</a:tableStyleId>
              </a:tblPr>
              <a:tblGrid>
                <a:gridCol w="5874072">
                  <a:extLst>
                    <a:ext uri="{9D8B030D-6E8A-4147-A177-3AD203B41FA5}">
                      <a16:colId xmlns:a16="http://schemas.microsoft.com/office/drawing/2014/main" val="2781065163"/>
                    </a:ext>
                  </a:extLst>
                </a:gridCol>
                <a:gridCol w="5874072">
                  <a:extLst>
                    <a:ext uri="{9D8B030D-6E8A-4147-A177-3AD203B41FA5}">
                      <a16:colId xmlns:a16="http://schemas.microsoft.com/office/drawing/2014/main" val="576982723"/>
                    </a:ext>
                  </a:extLst>
                </a:gridCol>
              </a:tblGrid>
              <a:tr h="463736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550838"/>
                  </a:ext>
                </a:extLst>
              </a:tr>
              <a:tr h="457382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number of variables: 3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row 1: 2 1 -1</a:t>
                      </a:r>
                    </a:p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row 2: -3 -1 2</a:t>
                      </a:r>
                    </a:p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row 3: -2 1 2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constant 1: 8</a:t>
                      </a:r>
                    </a:p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constant 2: -11</a:t>
                      </a:r>
                    </a:p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constant 3: 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Augmented Matrix: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[[  2.   1.  -1.   8.]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 -3.  -1.   2. -11.]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 -2.   1.   2.  -3.]]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1: Make Pivot Element 1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Solution: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x1 = 2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x2 = 3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x3 = -1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568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30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/>
        </p:nvSpPr>
        <p:spPr>
          <a:xfrm>
            <a:off x="0" y="6491111"/>
            <a:ext cx="12192000" cy="3669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9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KLE Technological University, Belagavi campus</a:t>
            </a:r>
            <a:endParaRPr sz="19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0" y="-30542"/>
            <a:ext cx="12192000" cy="11217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2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200" b="1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Python Libraries  Used</a:t>
            </a:r>
            <a:endParaRPr sz="32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32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sz="32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5" name="Google Shape;145;p11"/>
          <p:cNvSpPr txBox="1"/>
          <p:nvPr/>
        </p:nvSpPr>
        <p:spPr>
          <a:xfrm>
            <a:off x="257044" y="1290082"/>
            <a:ext cx="10322700" cy="50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38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b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matrix operations, augmented matrix creation, row reduction, and numerical calculations in Gaussian Elimination.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/>
        </p:nvSpPr>
        <p:spPr>
          <a:xfrm>
            <a:off x="0" y="6491111"/>
            <a:ext cx="12192000" cy="3669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5"/>
          <p:cNvSpPr txBox="1"/>
          <p:nvPr/>
        </p:nvSpPr>
        <p:spPr>
          <a:xfrm>
            <a:off x="0" y="0"/>
            <a:ext cx="12192000" cy="8100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Outputs</a:t>
            </a:r>
            <a:endParaRPr sz="3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35"/>
          <p:cNvSpPr txBox="1"/>
          <p:nvPr/>
        </p:nvSpPr>
        <p:spPr>
          <a:xfrm>
            <a:off x="257044" y="1290082"/>
            <a:ext cx="10322700" cy="50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49B97C-26E2-DF2C-5452-36A23655E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845980"/>
              </p:ext>
            </p:extLst>
          </p:nvPr>
        </p:nvGraphicFramePr>
        <p:xfrm>
          <a:off x="257045" y="810001"/>
          <a:ext cx="11677911" cy="5730240"/>
        </p:xfrm>
        <a:graphic>
          <a:graphicData uri="http://schemas.openxmlformats.org/drawingml/2006/table">
            <a:tbl>
              <a:tblPr firstRow="1" bandRow="1">
                <a:tableStyleId>{9880BE6C-7485-48FC-9D8E-5863A4461E3C}</a:tableStyleId>
              </a:tblPr>
              <a:tblGrid>
                <a:gridCol w="3892637">
                  <a:extLst>
                    <a:ext uri="{9D8B030D-6E8A-4147-A177-3AD203B41FA5}">
                      <a16:colId xmlns:a16="http://schemas.microsoft.com/office/drawing/2014/main" val="3903544160"/>
                    </a:ext>
                  </a:extLst>
                </a:gridCol>
                <a:gridCol w="3892637">
                  <a:extLst>
                    <a:ext uri="{9D8B030D-6E8A-4147-A177-3AD203B41FA5}">
                      <a16:colId xmlns:a16="http://schemas.microsoft.com/office/drawing/2014/main" val="741377066"/>
                    </a:ext>
                  </a:extLst>
                </a:gridCol>
                <a:gridCol w="3892637">
                  <a:extLst>
                    <a:ext uri="{9D8B030D-6E8A-4147-A177-3AD203B41FA5}">
                      <a16:colId xmlns:a16="http://schemas.microsoft.com/office/drawing/2014/main" val="849402557"/>
                    </a:ext>
                  </a:extLst>
                </a:gridCol>
              </a:tblGrid>
              <a:tr h="498939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84972"/>
                  </a:ext>
                </a:extLst>
              </a:tr>
              <a:tr h="5018742">
                <a:tc>
                  <a:txBody>
                    <a:bodyPr/>
                    <a:lstStyle/>
                    <a:p>
                      <a:r>
                        <a:rPr lang="en-IN" dirty="0"/>
                        <a:t>PS C:\Users\Karthik\Desktop\KLE TECH Engineering\KLE 2st semester\linear algebra\linear algebra lab&gt; &amp; c:/python314/python.exe "c:/Users/Karthik/Desktop/KLE TECH Engineering/KLE 2st semester/linear algebra/linear algebra lab/code.py"</a:t>
                      </a:r>
                    </a:p>
                    <a:p>
                      <a:r>
                        <a:rPr lang="en-IN" dirty="0"/>
                        <a:t>Enter number of variables: 3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Enter Coefficient Matrix:</a:t>
                      </a:r>
                    </a:p>
                    <a:p>
                      <a:r>
                        <a:rPr lang="en-IN" dirty="0"/>
                        <a:t>Enter row 1: 1 3 5</a:t>
                      </a:r>
                    </a:p>
                    <a:p>
                      <a:r>
                        <a:rPr lang="en-IN" dirty="0"/>
                        <a:t>Enter row 2: 0 2 3</a:t>
                      </a:r>
                    </a:p>
                    <a:p>
                      <a:r>
                        <a:rPr lang="en-IN" dirty="0"/>
                        <a:t>Enter row 3: 4 5 6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Enter Constant Matrix:</a:t>
                      </a:r>
                    </a:p>
                    <a:p>
                      <a:r>
                        <a:rPr lang="en-IN" dirty="0"/>
                        <a:t>Enter constant 1: 6</a:t>
                      </a:r>
                    </a:p>
                    <a:p>
                      <a:r>
                        <a:rPr lang="en-IN" dirty="0"/>
                        <a:t>Enter constant 2: 7</a:t>
                      </a:r>
                    </a:p>
                    <a:p>
                      <a:r>
                        <a:rPr lang="en-IN" dirty="0"/>
                        <a:t>Enter constant 3: 8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Initial Augmented Matrix: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[[1. 3. 5. 6.]</a:t>
                      </a:r>
                    </a:p>
                    <a:p>
                      <a:r>
                        <a:rPr lang="en-IN" dirty="0"/>
                        <a:t> [0. 2. 3. 7.]</a:t>
                      </a:r>
                    </a:p>
                    <a:p>
                      <a:r>
                        <a:rPr lang="en-IN" dirty="0"/>
                        <a:t> [4. 5. 6. 8.]]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Step 1: Make Pivot Element 1</a:t>
                      </a:r>
                    </a:p>
                    <a:p>
                      <a:r>
                        <a:rPr lang="en-IN" dirty="0"/>
                        <a:t>[[1. 3. 5. 6.]</a:t>
                      </a:r>
                    </a:p>
                    <a:p>
                      <a:r>
                        <a:rPr lang="en-IN" dirty="0"/>
                        <a:t> [0. 2. 3. 7.]</a:t>
                      </a:r>
                    </a:p>
                    <a:p>
                      <a:r>
                        <a:rPr lang="en-IN" dirty="0"/>
                        <a:t> [4. 5. 6. 8.]]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Eliminating element in Row 2</a:t>
                      </a:r>
                    </a:p>
                    <a:p>
                      <a:r>
                        <a:rPr lang="en-IN" dirty="0"/>
                        <a:t>[[1. 3. 5. 6.]</a:t>
                      </a:r>
                    </a:p>
                    <a:p>
                      <a:r>
                        <a:rPr lang="en-IN" dirty="0"/>
                        <a:t> [0. 2. 3. 7.]</a:t>
                      </a:r>
                    </a:p>
                    <a:p>
                      <a:r>
                        <a:rPr lang="en-IN" dirty="0"/>
                        <a:t> [4. 5. 6. 8.]]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Eliminating element in Row 3</a:t>
                      </a:r>
                    </a:p>
                    <a:p>
                      <a:r>
                        <a:rPr lang="en-IN" dirty="0"/>
                        <a:t>[[  1.   3.   5.   6.]</a:t>
                      </a:r>
                    </a:p>
                    <a:p>
                      <a:r>
                        <a:rPr lang="en-IN" dirty="0"/>
                        <a:t> [  0.   2.   3.   7.]</a:t>
                      </a:r>
                    </a:p>
                    <a:p>
                      <a:r>
                        <a:rPr lang="en-IN" dirty="0"/>
                        <a:t> [  0.  -7. -14. -16.]]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Step 2: Make Pivot Element 1</a:t>
                      </a:r>
                    </a:p>
                    <a:p>
                      <a:r>
                        <a:rPr lang="en-IN" dirty="0"/>
                        <a:t>[[  1.    3.    5.    6. ]</a:t>
                      </a:r>
                    </a:p>
                    <a:p>
                      <a:r>
                        <a:rPr lang="en-IN" dirty="0"/>
                        <a:t> [  0.    1.    1.5   3.5]</a:t>
                      </a:r>
                    </a:p>
                    <a:p>
                      <a:r>
                        <a:rPr lang="en-IN" dirty="0"/>
                        <a:t> [  0.   -7.  -14.  -16. ]]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Eliminating element in Row 3</a:t>
                      </a:r>
                    </a:p>
                    <a:p>
                      <a:r>
                        <a:rPr lang="en-IN" dirty="0"/>
                        <a:t>[[ 1.   3.   5.   6. ]</a:t>
                      </a:r>
                    </a:p>
                    <a:p>
                      <a:r>
                        <a:rPr lang="en-IN" dirty="0"/>
                        <a:t> [ 0.   1.   1.5  3.5]</a:t>
                      </a:r>
                    </a:p>
                    <a:p>
                      <a:r>
                        <a:rPr lang="en-IN" dirty="0"/>
                        <a:t> [ 0.   0.  -3.5  8.5]]</a:t>
                      </a:r>
                    </a:p>
                    <a:p>
                      <a:r>
                        <a:rPr lang="en-IN" dirty="0"/>
                        <a:t>Step 3: Make Pivot Element 1</a:t>
                      </a:r>
                    </a:p>
                    <a:p>
                      <a:r>
                        <a:rPr lang="en-IN" dirty="0"/>
                        <a:t>[[ 1.          3.          5.          6.        ]</a:t>
                      </a:r>
                    </a:p>
                    <a:p>
                      <a:r>
                        <a:rPr lang="en-IN" dirty="0"/>
                        <a:t> [ 0.          1.          1.5         3.5       ]</a:t>
                      </a:r>
                    </a:p>
                    <a:p>
                      <a:r>
                        <a:rPr lang="en-IN" dirty="0"/>
                        <a:t> [-0.         -0.          1.         -2.42857143]]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Final Row Echelon Form:</a:t>
                      </a:r>
                    </a:p>
                    <a:p>
                      <a:r>
                        <a:rPr lang="en-IN" dirty="0"/>
                        <a:t>[[ 1.          3.          5.          6.        ]</a:t>
                      </a:r>
                    </a:p>
                    <a:p>
                      <a:r>
                        <a:rPr lang="en-IN" dirty="0"/>
                        <a:t> [ 0.          1.          1.5         3.5       ]</a:t>
                      </a:r>
                    </a:p>
                    <a:p>
                      <a:r>
                        <a:rPr lang="en-IN" dirty="0"/>
                        <a:t> [-0.         -0.          1.         -2.42857143]]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Solution:</a:t>
                      </a:r>
                    </a:p>
                    <a:p>
                      <a:r>
                        <a:rPr lang="en-IN" dirty="0"/>
                        <a:t>x1 = -3.2857142857142847</a:t>
                      </a:r>
                    </a:p>
                    <a:p>
                      <a:r>
                        <a:rPr lang="en-IN" dirty="0"/>
                        <a:t>x2 = 7.142857142857142</a:t>
                      </a:r>
                    </a:p>
                    <a:p>
                      <a:r>
                        <a:rPr lang="en-IN" dirty="0"/>
                        <a:t>x3 = -2.4285714285714284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7299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/>
        </p:nvSpPr>
        <p:spPr>
          <a:xfrm>
            <a:off x="0" y="6491111"/>
            <a:ext cx="12192000" cy="3669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6"/>
          <p:cNvSpPr txBox="1"/>
          <p:nvPr/>
        </p:nvSpPr>
        <p:spPr>
          <a:xfrm>
            <a:off x="0" y="0"/>
            <a:ext cx="12192000" cy="8100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5969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36"/>
          <p:cNvSpPr txBox="1"/>
          <p:nvPr/>
        </p:nvSpPr>
        <p:spPr>
          <a:xfrm>
            <a:off x="257044" y="1290082"/>
            <a:ext cx="10322700" cy="50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6"/>
          <p:cNvSpPr txBox="1"/>
          <p:nvPr/>
        </p:nvSpPr>
        <p:spPr>
          <a:xfrm>
            <a:off x="257044" y="1597151"/>
            <a:ext cx="11677800" cy="4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6"/>
          <p:cNvSpPr txBox="1"/>
          <p:nvPr/>
        </p:nvSpPr>
        <p:spPr>
          <a:xfrm>
            <a:off x="106294" y="897155"/>
            <a:ext cx="11979300" cy="55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Gaussian Elimination Solver was successfully implemented using Python and NumPy.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demonstrated how systems of linear equations can be solved efficiently using matrix row reduction techniques.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Step-by-step visualization of row operations helped in understanding Gaussian Elimination clearly.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successfully converted augmented matrices into row echelon form and obtained accurate solutions using back substitution.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improved understanding of: </a:t>
            </a:r>
          </a:p>
          <a:p>
            <a:pPr marL="11684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Matrices </a:t>
            </a:r>
          </a:p>
          <a:p>
            <a:pPr marL="11684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Operations </a:t>
            </a:r>
          </a:p>
          <a:p>
            <a:pPr marL="11684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Systems </a:t>
            </a:r>
          </a:p>
          <a:p>
            <a:pPr marL="11684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Computation </a:t>
            </a:r>
          </a:p>
          <a:p>
            <a:pPr marL="11684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also showed the real-world importance of Linear Algebra in Artificial Intelligence, Machine Learning, Engineering, and Data Science.</a:t>
            </a:r>
            <a:endParaRPr sz="24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/>
        </p:nvSpPr>
        <p:spPr>
          <a:xfrm>
            <a:off x="0" y="6491111"/>
            <a:ext cx="12192000" cy="3669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9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KLE Technological University, Belagavi campus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0" y="0"/>
            <a:ext cx="12192000" cy="1121700"/>
          </a:xfrm>
          <a:prstGeom prst="rect">
            <a:avLst/>
          </a:prstGeom>
          <a:solidFill>
            <a:srgbClr val="68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lang="en-IN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3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257044" y="1290082"/>
            <a:ext cx="10322700" cy="50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969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6900" marR="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257044" y="1597151"/>
            <a:ext cx="11677800" cy="4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409444" y="1285255"/>
            <a:ext cx="11677800" cy="5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0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200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200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endParaRPr sz="4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2000" marR="0" lvl="0" indent="0" algn="ctr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IN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</a:t>
            </a:r>
            <a:endParaRPr sz="4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1682</Words>
  <Application>Microsoft Office PowerPoint</Application>
  <PresentationFormat>Widescreen</PresentationFormat>
  <Paragraphs>285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Cambria Math</vt:lpstr>
      <vt:lpstr>Arial</vt:lpstr>
      <vt:lpstr>Montserrat</vt:lpstr>
      <vt:lpstr>Times New Roman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Aarya Ningaraddiyavar</dc:creator>
  <cp:lastModifiedBy>Karthik Hirenarti</cp:lastModifiedBy>
  <cp:revision>10</cp:revision>
  <dcterms:created xsi:type="dcterms:W3CDTF">2024-11-04T08:05:10Z</dcterms:created>
  <dcterms:modified xsi:type="dcterms:W3CDTF">2026-05-28T18:11:24Z</dcterms:modified>
</cp:coreProperties>
</file>